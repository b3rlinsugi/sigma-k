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</a:defRPr>
            </a:pPr>
            <a:r>
              <a:t>KEMENTERIAN PENDAYAGUNAAN APARATUR NEGARA DAN REFORMASI BIROKRASI</a:t>
            </a:r>
          </a:p>
          <a:p>
            <a:pPr>
              <a:spcBef>
                <a:spcPts val="1400"/>
              </a:spcBef>
              <a:defRPr sz="2800" b="1">
                <a:solidFill>
                  <a:srgbClr val="FFFFFF"/>
                </a:solidFill>
              </a:defRPr>
            </a:pPr>
            <a:r>
              <a:t>DOKUMEN PERANCANGAN SISTEM &amp;</a:t>
            </a:r>
            <a:br/>
            <a:r>
              <a:t>PROTOTYPE APLIKASI E-SKLD (SIGMA-K)</a:t>
            </a:r>
          </a:p>
          <a:p>
            <a:pPr>
              <a:spcBef>
                <a:spcPts val="1000"/>
              </a:spcBef>
              <a:defRPr sz="1400">
                <a:solidFill>
                  <a:srgbClr val="BFDBFE"/>
                </a:solidFill>
              </a:defRPr>
            </a:pPr>
            <a:r>
              <a:t>Sistem Pengelolaan Data Kementerian/Lembaga/Pemerintah Daerah dan Struktur Kelembagaan</a:t>
            </a:r>
          </a:p>
          <a:p>
            <a:pPr>
              <a:spcBef>
                <a:spcPts val="3000"/>
              </a:spcBef>
              <a:defRPr sz="1100">
                <a:solidFill>
                  <a:srgbClr val="64748B"/>
                </a:solidFill>
              </a:defRPr>
            </a:pPr>
            <a:r>
              <a:t>Versi 1.0  |  Status: 100% Lolos Pengujian Otomatis  |  27 Agustus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Gambaran Umum &amp; Tujuan Pengembangan SIGMA-K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A4A"/>
                </a:solidFill>
              </a:defRPr>
            </a:pPr>
            <a:r>
              <a:t>Latar Belakang &amp; Urgensi: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Penataan struktur organisasi K/L/D pasca pembentukan Kabinet Merah Putih.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Kebutuhan single source of truth untuk master data instansi, unit, dan jabatan struktural.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Standardisasi alur pengusulan (submission) penataan kelembagaan secara transparan.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Pemisahan wewenang tegas (Separation of Duties): Penapisan Admin (Gate 1) dan Telaah Substantif Verifikator (Gate 2).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Wewenang pengesahan Surat Keputusan (SK) mutlak di tangan Verifikator.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40AF"/>
                </a:solidFill>
              </a:defRPr>
            </a:pPr>
            <a:r>
              <a:t>Capaian Validasi Sistem (100% PASS):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105 Frontend Tests PASS: Integrasi HTTP, Auth, Security, Master Data &amp; Reports.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198 Backend PHPUnit Tests: 713 assertions, 0 errors, 0 failures.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0 TypeScript &amp; ESLint Errors: Kompilasi strict type-checking 100% bersih.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16 Next.js Routes Compiled: Semua rute statis &amp; dinamis terkompilasi sukses.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21 Relational Database Tables: Integritas skema MySQL eskld_db terjaga mutlak.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Arsitektur Sistem 4-Tier E-SKLD / SIGMA-K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6873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Model Otorisasi, Peran Pengguna &amp; Zero-Trust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role_acc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63179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Struktur Navigasi &amp; Sitemap Aplikasi (16 Rute)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itema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6873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Struktur Data &amp; Entity Relationship Diagram (21 Tabel)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73471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Model Hierarki Organisasi &amp; Bagan React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org_hierarchy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70242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Siklus Hidup Usulan &amp; Finite State Machine (FSM)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ubmission_lifecycle_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59268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Alur Kerja Penapisan Gate 1 &amp; Telaah Substantif Gate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gate1_admin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03520" cy="3215467"/>
          </a:xfrm>
          <a:prstGeom prst="rect">
            <a:avLst/>
          </a:prstGeom>
        </p:spPr>
      </p:pic>
      <p:pic>
        <p:nvPicPr>
          <p:cNvPr id="8" name="Picture 7" descr="gate2_verifier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32154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Snapshot Versioning &amp; Pelacakan Perubahan (Diff Flow)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versioning_diff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728655" cy="59851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Prototype Antarmuka: Dashboard Eksekutif &amp; Master Instansi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03520" cy="2958630"/>
          </a:xfrm>
          <a:prstGeom prst="rect">
            <a:avLst/>
          </a:prstGeom>
        </p:spPr>
      </p:pic>
      <p:pic>
        <p:nvPicPr>
          <p:cNvPr id="8" name="Picture 7" descr="prototype_instit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586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Prototype Antarmuka: Bagan React Flow &amp; Diff Usulan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org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03520" cy="2958630"/>
          </a:xfrm>
          <a:prstGeom prst="rect">
            <a:avLst/>
          </a:prstGeom>
        </p:spPr>
      </p:pic>
      <p:pic>
        <p:nvPicPr>
          <p:cNvPr id="8" name="Picture 7" descr="prototype_submission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586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Prototype Antarmuka: Ruang Kerja Verifikator &amp; Analitik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verifier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03520" cy="2958630"/>
          </a:xfrm>
          <a:prstGeom prst="rect">
            <a:avLst/>
          </a:prstGeom>
        </p:spPr>
      </p:pic>
      <p:pic>
        <p:nvPicPr>
          <p:cNvPr id="8" name="Picture 7" descr="prototype_analytics_repo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58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4AF37"/>
                </a:solidFill>
              </a:defRPr>
            </a:pPr>
            <a:r>
              <a:t>KESIMPULAN &amp; KESIAPAN IMPLEMENTASI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Arsitektur teruji dan siap produksi (CodeIgniter 4 + MySQL + Next.js 14).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Pemisahan wewenang mutlak (Gate 1 Screening Admin &amp; Gate 2 Final Approval Verifier).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Keamanan Zero-Trust &amp; proteksi BOLA/IDOR terintegrasi di seluruh controller.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Otomasi promosi data pasca pengesahan SK resmi menjamin konsistensi master data nasional.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Seluruh dokumen teknis (Word, PDF, Presentasi PPTX) telah siap diserahkan kepada mentor.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